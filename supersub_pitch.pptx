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"/>
            <a:ext cx="2926080" cy="1005840"/>
          </a:xfrm>
          <a:prstGeom prst="rect">
            <a:avLst/>
          </a:prstGeom>
          <a:solidFill>
            <a:srgbClr val="00E5FF">
              <a:alpha val="12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16459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0120"/>
            <a:ext cx="64008" cy="1188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SUPERSUB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016752" y="1719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02996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game that sits between watching football and betting on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00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FREE-TO-PLAY  ·  MOBILE-FIRST  ·  5 LEAGUES  ·  AFFILIATE-READY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3383280"/>
            <a:ext cx="64008" cy="6400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7888" y="3547872"/>
            <a:ext cx="64008" cy="64008"/>
          </a:xfrm>
          <a:prstGeom prst="ellips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9056" y="3712464"/>
            <a:ext cx="64008" cy="64008"/>
          </a:xfrm>
          <a:prstGeom prst="ellipse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50224" y="3877056"/>
            <a:ext cx="64008" cy="64008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51392" y="4041648"/>
            <a:ext cx="64008" cy="6400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6576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large audiences with unmet needs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3383280"/>
          </a:xfrm>
          <a:prstGeom prst="rect">
            <a:avLst/>
          </a:prstGeom>
          <a:solidFill>
            <a:srgbClr val="1A1A24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4475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12.8M FPL Players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5681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out once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gameweek starts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066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engagement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matches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529584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564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week kills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season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325880"/>
            <a:ext cx="2743200" cy="3383280"/>
          </a:xfrm>
          <a:prstGeom prst="rect">
            <a:avLst/>
          </a:prstGeom>
          <a:solidFill>
            <a:srgbClr val="1A1A24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325880"/>
            <a:ext cx="2743200" cy="54864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44475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Casual Betting Fans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566160" y="2029968"/>
            <a:ext cx="91440" cy="9144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95681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are complex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intimidating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2779776"/>
            <a:ext cx="91440" cy="9144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7066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 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fans off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3529584"/>
            <a:ext cx="91440" cy="9144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4564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spend huge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acquire &amp; retain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1325880"/>
            <a:ext cx="2743200" cy="3383280"/>
          </a:xfrm>
          <a:prstGeom prst="rect">
            <a:avLst/>
          </a:prstGeom>
          <a:solidFill>
            <a:srgbClr val="1A1A24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325880"/>
            <a:ext cx="274320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144475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 Fans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37960" y="2029968"/>
            <a:ext cx="91440" cy="91440"/>
          </a:xfrm>
          <a:prstGeom prst="ellipse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95681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second-screening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during matches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2779776"/>
            <a:ext cx="91440" cy="91440"/>
          </a:xfrm>
          <a:prstGeom prst="ellipse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70662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Debating subs on Twitter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nowhere to act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3529584"/>
            <a:ext cx="91440" cy="91440"/>
          </a:xfrm>
          <a:prstGeom prst="ellipse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45643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functional stats,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social media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6576" cy="25603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Supersub — the missing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828800" cy="914400"/>
          </a:xfrm>
          <a:prstGeom prst="rect">
            <a:avLst/>
          </a:prstGeom>
          <a:solidFill>
            <a:srgbClr val="1A1A24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508760"/>
            <a:ext cx="502920" cy="73152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0632" y="1435608"/>
            <a:ext cx="109728" cy="21945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1234440"/>
            <a:ext cx="1828800" cy="914400"/>
          </a:xfrm>
          <a:prstGeom prst="rect">
            <a:avLst/>
          </a:prstGeom>
          <a:solidFill>
            <a:srgbClr val="0099BB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Supersub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65192" y="1508760"/>
            <a:ext cx="502920" cy="73152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12664" y="1435608"/>
            <a:ext cx="109728" cy="21945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86984" y="1234440"/>
            <a:ext cx="1828800" cy="914400"/>
          </a:xfrm>
          <a:prstGeom prst="rect">
            <a:avLst/>
          </a:prstGeom>
          <a:solidFill>
            <a:srgbClr val="1A1A24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Place Real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SUPERSUB IS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2743200" cy="2148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33472"/>
            <a:ext cx="27432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76148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prediction game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" y="3108960"/>
            <a:ext cx="24140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required. Users predict Match Result, Total Goals, Goalscorer and the signature Supersub card using an in-game card inventory.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2633472"/>
            <a:ext cx="2743200" cy="2148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633472"/>
            <a:ext cx="274320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76148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Gamified daily loop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47872" y="3108960"/>
            <a:ext cx="24140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card rewards from the Training Ground keep users returning. Card scarcity creates natural engagement pressure before each gameweek.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2633472"/>
            <a:ext cx="2743200" cy="2148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633472"/>
            <a:ext cx="2743200" cy="457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76148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Affiliate bridge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9672" y="3108960"/>
            <a:ext cx="24140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Post-prediction: 'This call could return £35 at Sky Bet.' Post-win: 'You could have won £X.' Contextual, non-intrusive, high-intent.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6576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prediction cards. All core betting markets.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920240" cy="3566160"/>
          </a:xfrm>
          <a:prstGeom prst="rect">
            <a:avLst/>
          </a:prstGeom>
          <a:solidFill>
            <a:srgbClr val="1A1A24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1920240" cy="54864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645920" cy="310896"/>
          </a:xfrm>
          <a:prstGeom prst="rect">
            <a:avLst/>
          </a:prstGeom>
          <a:solidFill>
            <a:srgbClr val="00D4A0">
              <a:alpha val="18000"/>
            </a:srgbClr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RESULT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home win,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or away win.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market.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645920" cy="384048"/>
          </a:xfrm>
          <a:prstGeom prst="rect">
            <a:avLst/>
          </a:prstGeom>
          <a:solidFill>
            <a:srgbClr val="00D4A0">
              <a:alpha val="28000"/>
            </a:srgbClr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34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× 100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1298448"/>
            <a:ext cx="1920240" cy="3566160"/>
          </a:xfrm>
          <a:prstGeom prst="rect">
            <a:avLst/>
          </a:prstGeom>
          <a:solidFill>
            <a:srgbClr val="1A1A24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298448"/>
            <a:ext cx="192024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463040"/>
            <a:ext cx="1645920" cy="310896"/>
          </a:xfrm>
          <a:prstGeom prst="rect">
            <a:avLst/>
          </a:prstGeom>
          <a:solidFill>
            <a:srgbClr val="FFB800">
              <a:alpha val="18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O/U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19019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GOALS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88920" y="2395728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or under 2.5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goals. Second most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market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Builder.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4334256"/>
            <a:ext cx="1645920" cy="384048"/>
          </a:xfrm>
          <a:prstGeom prst="rect">
            <a:avLst/>
          </a:prstGeom>
          <a:solidFill>
            <a:srgbClr val="FFB800">
              <a:alpha val="28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4334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× 100 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1298448"/>
            <a:ext cx="1920240" cy="3566160"/>
          </a:xfrm>
          <a:prstGeom prst="rect">
            <a:avLst/>
          </a:prstGeom>
          <a:solidFill>
            <a:srgbClr val="1A1A24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298448"/>
            <a:ext cx="1920240" cy="54864"/>
          </a:xfrm>
          <a:prstGeom prst="rect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463040"/>
            <a:ext cx="1645920" cy="310896"/>
          </a:xfrm>
          <a:prstGeom prst="rect">
            <a:avLst/>
          </a:prstGeom>
          <a:solidFill>
            <a:srgbClr val="FF4D6A">
              <a:alpha val="18000"/>
            </a:srgbClr>
          </a:solidFill>
          <a:ln w="6350">
            <a:solidFill>
              <a:srgbClr val="FF4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19019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GOALSCORER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0" y="2395728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player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score. Anytime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goalscorer — 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Builder market.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4334256"/>
            <a:ext cx="1645920" cy="384048"/>
          </a:xfrm>
          <a:prstGeom prst="rect">
            <a:avLst/>
          </a:prstGeom>
          <a:solidFill>
            <a:srgbClr val="FF4D6A">
              <a:alpha val="28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334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× 100 pts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1298448"/>
            <a:ext cx="1920240" cy="3566160"/>
          </a:xfrm>
          <a:prstGeom prst="rect">
            <a:avLst/>
          </a:prstGeom>
          <a:solidFill>
            <a:srgbClr val="0A1A1E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1298448"/>
            <a:ext cx="192024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1463040"/>
            <a:ext cx="1645920" cy="310896"/>
          </a:xfrm>
          <a:prstGeom prst="rect">
            <a:avLst/>
          </a:prstGeom>
          <a:solidFill>
            <a:srgbClr val="00E5FF">
              <a:alpha val="18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1463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9480" y="19019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SUPERSUB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69480" y="2395728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on a bench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to score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assist. No other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offers this.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69480" y="4334256"/>
            <a:ext cx="1645920" cy="384048"/>
          </a:xfrm>
          <a:prstGeom prst="rect">
            <a:avLst/>
          </a:prstGeom>
          <a:solidFill>
            <a:srgbClr val="00E5FF">
              <a:alpha val="2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4334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– 2,500 pts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9194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Every user placing all 3 of the first cards has mentally constructed a Bet Builder.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6576" cy="2560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validated audience, a broken experience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965960" cy="1298448"/>
          </a:xfrm>
          <a:prstGeom prst="rect">
            <a:avLst/>
          </a:prstGeom>
          <a:solidFill>
            <a:srgbClr val="1A1A24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35608"/>
            <a:ext cx="1965960" cy="7141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12.8M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040026"/>
            <a:ext cx="1965960" cy="54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FPL active players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(2024/25 season)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1325880"/>
            <a:ext cx="1965960" cy="1298448"/>
          </a:xfrm>
          <a:prstGeom prst="rect">
            <a:avLst/>
          </a:prstGeom>
          <a:solidFill>
            <a:srgbClr val="1A1A24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435608"/>
            <a:ext cx="1965960" cy="7141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42032" y="2040026"/>
            <a:ext cx="1965960" cy="54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fans second-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during matches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2584" y="1325880"/>
            <a:ext cx="1965960" cy="1298448"/>
          </a:xfrm>
          <a:prstGeom prst="rect">
            <a:avLst/>
          </a:prstGeom>
          <a:solidFill>
            <a:srgbClr val="1A1A24"/>
          </a:solidFill>
          <a:ln w="19050">
            <a:solidFill>
              <a:srgbClr val="00D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435608"/>
            <a:ext cx="1965960" cy="7141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72584" y="2040026"/>
            <a:ext cx="1965960" cy="54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2024 sports bets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in-play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325880"/>
            <a:ext cx="1965960" cy="1298448"/>
          </a:xfrm>
          <a:prstGeom prst="rect">
            <a:avLst/>
          </a:prstGeom>
          <a:solidFill>
            <a:srgbClr val="1A1A24"/>
          </a:solidFill>
          <a:ln w="19050">
            <a:solidFill>
              <a:srgbClr val="FF4D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435608"/>
            <a:ext cx="1965960" cy="7141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3–4×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03136" y="2040026"/>
            <a:ext cx="1965960" cy="54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bettors growing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core bettors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779776"/>
            <a:ext cx="2743200" cy="1993392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779776"/>
            <a:ext cx="27432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907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 screen is functional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6072" y="3255264"/>
            <a:ext cx="24140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fans specifically seek stats and data on their second screen — not just social media. Supersub sits in the functional category where attention is deepest.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83280" y="2779776"/>
            <a:ext cx="2743200" cy="1993392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779776"/>
            <a:ext cx="274320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907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Substitution debate is live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47872" y="3255264"/>
            <a:ext cx="24140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keyboard warrior is most vocal about substitutions" — substitution decisions are the #1 live social media debate in football. Supersub monetises that opinion.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2779776"/>
            <a:ext cx="2743200" cy="1993392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779776"/>
            <a:ext cx="2743200" cy="457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290779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Casual bettor is the prize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19672" y="3255264"/>
            <a:ext cx="24140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know casual fans are the growth vector. The barrier is complexity and financial risk — exactly what Supersub removes before referring qualified leads.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6576" cy="256032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SCREEN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Supersub is built for how fans actually watch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FANS OPEN THEIR SECOND SCREEN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1920240" cy="457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1208" y="234086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63347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Lineups drop.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predictions.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0008" y="2450592"/>
            <a:ext cx="201168" cy="36576"/>
          </a:xfrm>
          <a:prstGeom prst="rect">
            <a:avLst/>
          </a:prstGeom>
          <a:solidFill>
            <a:srgbClr val="8888AA">
              <a:alpha val="60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664208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1664208"/>
            <a:ext cx="192024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97480" y="234086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63347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unfold.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warms up.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450592"/>
            <a:ext cx="201168" cy="36576"/>
          </a:xfrm>
          <a:prstGeom prst="rect">
            <a:avLst/>
          </a:prstGeom>
          <a:solidFill>
            <a:srgbClr val="8888AA">
              <a:alpha val="60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4024" y="1664208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4024" y="1664208"/>
            <a:ext cx="192024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73752" y="234086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263347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card.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02552" y="2450592"/>
            <a:ext cx="201168" cy="36576"/>
          </a:xfrm>
          <a:prstGeom prst="rect">
            <a:avLst/>
          </a:prstGeom>
          <a:solidFill>
            <a:srgbClr val="8888AA">
              <a:alpha val="60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0296" y="1664208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0296" y="1664208"/>
            <a:ext cx="1920240" cy="457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050024" y="234086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50024" y="263347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card.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456432"/>
            <a:ext cx="8321040" cy="1298448"/>
          </a:xfrm>
          <a:prstGeom prst="rect">
            <a:avLst/>
          </a:prstGeom>
          <a:solidFill>
            <a:srgbClr val="0D0D18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456432"/>
            <a:ext cx="45720" cy="1298448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56616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biggest area the keyboard warrior is keen to criticise is substitutions.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don't make a change and concede, they clearly should have brought on some fresh legs."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43525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football-stadiums.co.uk  ·  Supersub turns that opinion into a card.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6576" cy="25603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Supersub makes money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43200" cy="1920240"/>
          </a:xfrm>
          <a:prstGeom prst="rect">
            <a:avLst/>
          </a:prstGeom>
          <a:solidFill>
            <a:srgbClr val="1A1A2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27432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Post-prediction ads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placing a card, users see a contextual offer: 'This call could return £35 for £10 at Sky Bet.' Informational, not promotional. Compliant.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298448"/>
            <a:ext cx="2743200" cy="1920240"/>
          </a:xfrm>
          <a:prstGeom prst="rect">
            <a:avLst/>
          </a:prstGeom>
          <a:solidFill>
            <a:srgbClr val="1A1A24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98448"/>
            <a:ext cx="274320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755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Post-win affiliate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20440" y="2176272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winning prediction: 'You could have won £X on this call.' The win context makes the offer feel like a reward, not a push. Highest CTR moment.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298448"/>
            <a:ext cx="2743200" cy="1920240"/>
          </a:xfrm>
          <a:prstGeom prst="rect">
            <a:avLst/>
          </a:prstGeom>
          <a:solidFill>
            <a:srgbClr val="1A1A24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298448"/>
            <a:ext cx="2743200" cy="457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755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/ API licensing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2176272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analytics feed: coach substitution patterns, sub-on scoring efficiency, team bench rates. B2B revenue, no user scale required.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337560"/>
            <a:ext cx="8321040" cy="1444752"/>
          </a:xfrm>
          <a:prstGeom prst="rect">
            <a:avLst/>
          </a:prstGeom>
          <a:solidFill>
            <a:srgbClr val="0A1A12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CLARITY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Free-to-play with points only — not gambling under UK Gambling Act 2005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0050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Affiliate ads are displayed as third-party advertisements, not product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2428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18+ / BeGambleAware messaging included on all operator-facing placements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4805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UKGC affiliate registration required per operator — paperwork, not a licence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6576" cy="2560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market entry tiers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43200" cy="3493008"/>
          </a:xfrm>
          <a:prstGeom prst="rect">
            <a:avLst/>
          </a:prstGeom>
          <a:solidFill>
            <a:srgbClr val="1A1A24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🇬🇧  UK &amp; Ireland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231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market. EPL coverage strongest. FPL crossover audience. Bet365, Sky Bet, William Hill affiliate programmes.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246888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22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05993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Competitive. UKGC compliance required for affiliates.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298448"/>
            <a:ext cx="2743200" cy="3493008"/>
          </a:xfrm>
          <a:prstGeom prst="rect">
            <a:avLst/>
          </a:prstGeom>
          <a:solidFill>
            <a:srgbClr val="1A1A24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298448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 MONTHS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 Nigeria &amp; Ghana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2231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487168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mobile-first football prediction market globally. BetKing, Sportybet, 1xBet Africa — aggressive affiliate deals. EPL dominance means existing coverage works.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3749040"/>
            <a:ext cx="246888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822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405993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3G critical. No local league coverage yet.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1298448"/>
            <a:ext cx="2743200" cy="3493008"/>
          </a:xfrm>
          <a:prstGeom prst="rect">
            <a:avLst/>
          </a:prstGeom>
          <a:solidFill>
            <a:srgbClr val="1A1A24"/>
          </a:solidFill>
          <a:ln w="19050">
            <a:solidFill>
              <a:srgbClr val="9B59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298448"/>
            <a:ext cx="274320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12 MONTHS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🇧🇷  Brazil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2231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487168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 fantasy sports market. Cartola FC proves the appetite. Post-2023 betting legalisation. Betano, Pixbet growing fast.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749040"/>
            <a:ext cx="2468880" cy="27432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822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405993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localisation essential. Brasileirão coverage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36576" cy="25603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biggest marketing event in football history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teams  ·  104 matches  ·  June–July 2026  ·  ~5 billion viewers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743200" cy="18288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81328"/>
            <a:ext cx="274320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6093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Sub Tracker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1956816"/>
            <a:ext cx="24140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real-time leaderboard of substitute impact across all 32 nations. No login required. SEO magnet, PR hook, organic acquisition engine.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481328"/>
            <a:ext cx="2743200" cy="18288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81328"/>
            <a:ext cx="27432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6093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Shareable cards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1956816"/>
            <a:ext cx="24140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Pre-settlement bravado cards ('I'm calling this') and post-win celebration cards ('I called it — 2,500 pts'). Every share is free media during the biggest event of the year.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481328"/>
            <a:ext cx="2743200" cy="18288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481328"/>
            <a:ext cx="2743200" cy="457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093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Operator timing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1956816"/>
            <a:ext cx="24140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is operators' highest acquisition spend period. Supersub arrives with warm, qualified leads and a proven prediction track record across all core markets.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429000"/>
            <a:ext cx="8321040" cy="1024128"/>
          </a:xfrm>
          <a:prstGeom prst="rect">
            <a:avLst/>
          </a:prstGeom>
          <a:solidFill>
            <a:srgbClr val="1A10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DEADLINE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8221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opens June 2026. Any feature not in production by April is not in the World Cup. Build backwards from the tournament, not forwards from today.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4544568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" y="4636008"/>
            <a:ext cx="1792224" cy="36576"/>
          </a:xfrm>
          <a:prstGeom prst="rect">
            <a:avLst/>
          </a:prstGeom>
          <a:solidFill>
            <a:srgbClr val="8888AA">
              <a:alpha val="50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974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Social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16352" y="4544568"/>
            <a:ext cx="219456" cy="21945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4636008"/>
            <a:ext cx="1792224" cy="36576"/>
          </a:xfrm>
          <a:prstGeom prst="rect">
            <a:avLst/>
          </a:prstGeom>
          <a:solidFill>
            <a:srgbClr val="8888AA">
              <a:alpha val="50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77440" y="4974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Affiliates live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8032" y="4544568"/>
            <a:ext cx="219456" cy="219456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4636008"/>
            <a:ext cx="1792224" cy="36576"/>
          </a:xfrm>
          <a:prstGeom prst="rect">
            <a:avLst/>
          </a:prstGeom>
          <a:solidFill>
            <a:srgbClr val="8888AA">
              <a:alpha val="50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4974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freeze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39712" y="4544568"/>
            <a:ext cx="219456" cy="219456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0" y="4974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bet builder pitch.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8321040" cy="1938528"/>
          </a:xfrm>
          <a:prstGeom prst="rect">
            <a:avLst/>
          </a:prstGeom>
          <a:solidFill>
            <a:srgbClr val="1A1A24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64008" cy="19385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609344"/>
            <a:ext cx="79552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users make predictions across Match Result, Total Goals, and Goalscorer markets.</a:t>
            </a:r>
            <a:endParaRPr lang="en-US" sz="1550" dirty="0"/>
          </a:p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who places all three in a single match has mentally constructed a Bet Builder.</a:t>
            </a:r>
            <a:endParaRPr lang="en-US" sz="1550" dirty="0"/>
          </a:p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simply haven't done it for money yet."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11480" y="3547872"/>
            <a:ext cx="2468880" cy="1243584"/>
          </a:xfrm>
          <a:prstGeom prst="rect">
            <a:avLst/>
          </a:prstGeom>
          <a:solidFill>
            <a:srgbClr val="1A1A24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657600"/>
            <a:ext cx="24688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12.8M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4231843"/>
            <a:ext cx="2468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FPL players — proven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appetite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3547872"/>
            <a:ext cx="2468880" cy="1243584"/>
          </a:xfrm>
          <a:prstGeom prst="rect">
            <a:avLst/>
          </a:prstGeom>
          <a:solidFill>
            <a:srgbClr val="1A1A24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3657600"/>
            <a:ext cx="24688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10128" y="4231843"/>
            <a:ext cx="2468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fans already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screen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3547872"/>
            <a:ext cx="2468880" cy="1243584"/>
          </a:xfrm>
          <a:prstGeom prst="rect">
            <a:avLst/>
          </a:prstGeom>
          <a:solidFill>
            <a:srgbClr val="1A1A24"/>
          </a:solidFill>
          <a:ln w="19050">
            <a:solidFill>
              <a:srgbClr val="00D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3657600"/>
            <a:ext cx="24688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08776" y="4231843"/>
            <a:ext cx="2468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decisions = most debated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in live football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supersub.mobi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Supersub – Pitch Deck</dc:title>
  <dc:subject>PptxGenJS Presentation</dc:subject>
  <dc:creator>PptxGenJS</dc:creator>
  <cp:lastModifiedBy>PptxGenJS</cp:lastModifiedBy>
  <cp:revision>1</cp:revision>
  <dcterms:created xsi:type="dcterms:W3CDTF">2026-03-25T23:50:03Z</dcterms:created>
  <dcterms:modified xsi:type="dcterms:W3CDTF">2026-03-25T23:50:03Z</dcterms:modified>
</cp:coreProperties>
</file>